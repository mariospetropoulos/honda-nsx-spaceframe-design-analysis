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5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76" r:id="rId6"/>
    <p:sldId id="270" r:id="rId7"/>
    <p:sldId id="275" r:id="rId8"/>
    <p:sldId id="268" r:id="rId9"/>
    <p:sldId id="272" r:id="rId10"/>
    <p:sldId id="269" r:id="rId11"/>
    <p:sldId id="273" r:id="rId12"/>
    <p:sldId id="27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72FA3-3B29-496D-876F-0701A511422B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556FE-22E0-458C-B35E-DE45059CF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5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556FE-22E0-458C-B35E-DE45059CF97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83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3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2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9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4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7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5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0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1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9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133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43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128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88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lumMod val="104000"/>
              </a:schemeClr>
            </a:gs>
            <a:gs pos="100000">
              <a:schemeClr val="tx1">
                <a:lumMod val="6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76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Εικόνα 21" descr="Εικόνα που περιέχει τροχός, χερσαίο όχημα, όχημα, μεταφο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A8EF272-1834-243E-4EDF-B6163180A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3188" y="-8468"/>
            <a:ext cx="9727495" cy="68664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370" y="315383"/>
            <a:ext cx="6517879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2800" dirty="0"/>
              <a:t>Θεωρία Τροχοφόρων Οχημάτων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7499" y="1015473"/>
            <a:ext cx="7462043" cy="1014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>
                <a:solidFill>
                  <a:schemeClr val="bg1"/>
                </a:solidFill>
              </a:rPr>
              <a:t>Σχεδιασμός και Ανάλυση </a:t>
            </a:r>
            <a:r>
              <a:rPr lang="el-GR" dirty="0" err="1">
                <a:solidFill>
                  <a:schemeClr val="bg1"/>
                </a:solidFill>
              </a:rPr>
              <a:t>Χωροδικτυώματος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HONDA NSX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4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4A60E-4ABE-B0FF-0BF3-6C32B9B7E8E7}"/>
              </a:ext>
            </a:extLst>
          </p:cNvPr>
          <p:cNvSpPr txBox="1"/>
          <p:nvPr/>
        </p:nvSpPr>
        <p:spPr>
          <a:xfrm>
            <a:off x="187722" y="1725759"/>
            <a:ext cx="5200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accent1">
                    <a:lumMod val="75000"/>
                  </a:schemeClr>
                </a:solidFill>
              </a:rPr>
              <a:t>	     </a:t>
            </a:r>
            <a:r>
              <a:rPr lang="el-GR" sz="1200" u="sng" dirty="0">
                <a:solidFill>
                  <a:schemeClr val="accent1">
                    <a:lumMod val="75000"/>
                  </a:schemeClr>
                </a:solidFill>
              </a:rPr>
              <a:t>ΟΜΑΔΑ 6</a:t>
            </a:r>
            <a:endParaRPr lang="en-US" sz="12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l-GR" sz="1200" dirty="0">
                <a:solidFill>
                  <a:schemeClr val="bg1"/>
                </a:solidFill>
              </a:rPr>
              <a:t>Κολοβός Δημήτριος mc23004</a:t>
            </a:r>
          </a:p>
          <a:p>
            <a:r>
              <a:rPr lang="el-GR" sz="1200" dirty="0" err="1">
                <a:solidFill>
                  <a:schemeClr val="bg1"/>
                </a:solidFill>
              </a:rPr>
              <a:t>Μακμίλλαν</a:t>
            </a:r>
            <a:r>
              <a:rPr lang="el-GR" sz="1200" dirty="0">
                <a:solidFill>
                  <a:schemeClr val="bg1"/>
                </a:solidFill>
              </a:rPr>
              <a:t> Μυρτώ-Τζένη mc22023 </a:t>
            </a:r>
          </a:p>
          <a:p>
            <a:r>
              <a:rPr lang="el-GR" sz="1200" dirty="0">
                <a:solidFill>
                  <a:schemeClr val="bg1"/>
                </a:solidFill>
              </a:rPr>
              <a:t>Πετρόπουλος Μάριος mc22043</a:t>
            </a:r>
          </a:p>
          <a:p>
            <a:r>
              <a:rPr lang="el-GR" sz="1200" dirty="0" err="1">
                <a:solidFill>
                  <a:schemeClr val="bg1"/>
                </a:solidFill>
              </a:rPr>
              <a:t>Στέφα</a:t>
            </a:r>
            <a:r>
              <a:rPr lang="el-GR" sz="1200" dirty="0">
                <a:solidFill>
                  <a:schemeClr val="bg1"/>
                </a:solidFill>
              </a:rPr>
              <a:t> Ειρήνη mc22653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802" y="565150"/>
            <a:ext cx="6132748" cy="1320800"/>
          </a:xfrm>
        </p:spPr>
        <p:txBody>
          <a:bodyPr>
            <a:normAutofit/>
          </a:bodyPr>
          <a:lstStyle/>
          <a:p>
            <a:pPr algn="ctr"/>
            <a:r>
              <a:rPr dirty="0" err="1"/>
              <a:t>Στόχο</a:t>
            </a:r>
            <a:r>
              <a:rPr lang="el-GR" dirty="0"/>
              <a:t>ι</a:t>
            </a:r>
            <a:r>
              <a:rPr dirty="0"/>
              <a:t> </a:t>
            </a:r>
            <a:r>
              <a:rPr dirty="0" err="1"/>
              <a:t>Εργ</a:t>
            </a:r>
            <a:r>
              <a:rPr dirty="0"/>
              <a:t>ασίας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591300" cy="3880773"/>
          </a:xfrm>
        </p:spPr>
        <p:txBody>
          <a:bodyPr>
            <a:normAutofit/>
          </a:bodyPr>
          <a:lstStyle/>
          <a:p>
            <a:pPr marL="320040" indent="-285750">
              <a:buFont typeface="Wingdings" panose="05000000000000000000" pitchFamily="2" charset="2"/>
              <a:buChar char="q"/>
            </a:pPr>
            <a:r>
              <a:rPr lang="el-GR" dirty="0">
                <a:solidFill>
                  <a:schemeClr val="bg1"/>
                </a:solidFill>
              </a:rPr>
              <a:t>Σχεδίαση και Ανάλυση </a:t>
            </a:r>
            <a:r>
              <a:rPr lang="el-GR" dirty="0" err="1">
                <a:solidFill>
                  <a:schemeClr val="bg1"/>
                </a:solidFill>
              </a:rPr>
              <a:t>Χωροδικτυώματος</a:t>
            </a:r>
            <a:r>
              <a:rPr lang="el-GR" dirty="0">
                <a:solidFill>
                  <a:schemeClr val="bg1"/>
                </a:solidFill>
              </a:rPr>
              <a:t> </a:t>
            </a:r>
          </a:p>
          <a:p>
            <a:pPr marL="320040" indent="-285750">
              <a:buFont typeface="Wingdings" panose="05000000000000000000" pitchFamily="2" charset="2"/>
              <a:buChar char="q"/>
            </a:pPr>
            <a:endParaRPr lang="el-GR" dirty="0">
              <a:solidFill>
                <a:schemeClr val="bg1"/>
              </a:solidFill>
            </a:endParaRPr>
          </a:p>
          <a:p>
            <a:pPr marL="320040" indent="-285750">
              <a:buFont typeface="Wingdings" panose="05000000000000000000" pitchFamily="2" charset="2"/>
              <a:buChar char="q"/>
            </a:pPr>
            <a:r>
              <a:rPr lang="el-GR" dirty="0">
                <a:solidFill>
                  <a:schemeClr val="bg1"/>
                </a:solidFill>
              </a:rPr>
              <a:t>Εκτίμηση και Εφαρμογή Ρεαλιστικών Φορτίσεων</a:t>
            </a:r>
          </a:p>
          <a:p>
            <a:pPr marL="320040" indent="-285750">
              <a:buFont typeface="Wingdings" panose="05000000000000000000" pitchFamily="2" charset="2"/>
              <a:buChar char="q"/>
            </a:pPr>
            <a:endParaRPr lang="el-GR" dirty="0">
              <a:solidFill>
                <a:schemeClr val="bg1"/>
              </a:solidFill>
            </a:endParaRPr>
          </a:p>
          <a:p>
            <a:pPr marL="320040" indent="-285750">
              <a:buFont typeface="Wingdings" panose="05000000000000000000" pitchFamily="2" charset="2"/>
              <a:buChar char="q"/>
            </a:pPr>
            <a:r>
              <a:rPr lang="el-GR" dirty="0">
                <a:solidFill>
                  <a:schemeClr val="bg1"/>
                </a:solidFill>
              </a:rPr>
              <a:t>Δομική Αξιολόγηση του πλαισίου</a:t>
            </a:r>
          </a:p>
          <a:p>
            <a:pPr marL="34290" indent="0">
              <a:buNone/>
            </a:pPr>
            <a:endParaRPr lang="el-GR" dirty="0">
              <a:solidFill>
                <a:schemeClr val="bg1"/>
              </a:solidFill>
            </a:endParaRPr>
          </a:p>
          <a:p>
            <a:pPr marL="320040" indent="-285750">
              <a:buFont typeface="Wingdings" panose="05000000000000000000" pitchFamily="2" charset="2"/>
              <a:buChar char="q"/>
            </a:pPr>
            <a:r>
              <a:rPr lang="el-GR" dirty="0">
                <a:solidFill>
                  <a:schemeClr val="bg1"/>
                </a:solidFill>
              </a:rPr>
              <a:t>Μείωση Βάρους για Βελτιστοποίηση Επιδόσεων  </a:t>
            </a:r>
          </a:p>
          <a:p>
            <a:pPr marL="320040" indent="-285750">
              <a:buFont typeface="Wingdings" panose="05000000000000000000" pitchFamily="2" charset="2"/>
              <a:buChar char="q"/>
            </a:pPr>
            <a:endParaRPr lang="el-G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CC527F4-441D-1EF2-A1CC-DAF0BF5E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Λογισμικά και Μεθοδολογία Υλοποίησης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94381C8-8C6D-9C18-EEBE-2E2BBB5C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" indent="0">
              <a:buNone/>
            </a:pPr>
            <a:r>
              <a:rPr lang="el-GR" dirty="0">
                <a:solidFill>
                  <a:schemeClr val="bg1"/>
                </a:solidFill>
              </a:rPr>
              <a:t>Σχεδίαση δικτυώματος μέσω </a:t>
            </a:r>
            <a:r>
              <a:rPr lang="en-US" dirty="0" err="1">
                <a:solidFill>
                  <a:schemeClr val="bg1"/>
                </a:solidFill>
              </a:rPr>
              <a:t>Solidworks</a:t>
            </a:r>
            <a:endParaRPr lang="en-US" dirty="0">
              <a:solidFill>
                <a:schemeClr val="bg1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4290" indent="0">
              <a:buNone/>
            </a:pPr>
            <a:r>
              <a:rPr lang="el-GR" dirty="0">
                <a:solidFill>
                  <a:schemeClr val="bg1"/>
                </a:solidFill>
              </a:rPr>
              <a:t>Ανάλυση και μελέτη αντοχής μέσω </a:t>
            </a:r>
            <a:r>
              <a:rPr lang="en-US" dirty="0">
                <a:solidFill>
                  <a:schemeClr val="bg1"/>
                </a:solidFill>
              </a:rPr>
              <a:t>Ansys</a:t>
            </a:r>
          </a:p>
          <a:p>
            <a:pPr marL="3429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4290" indent="0">
              <a:buNone/>
            </a:pPr>
            <a:r>
              <a:rPr lang="el-GR" dirty="0">
                <a:solidFill>
                  <a:schemeClr val="bg1"/>
                </a:solidFill>
              </a:rPr>
              <a:t>Υπολογισμός επιδόσεων μέσω </a:t>
            </a:r>
            <a:r>
              <a:rPr lang="en-US" dirty="0" err="1">
                <a:solidFill>
                  <a:schemeClr val="bg1"/>
                </a:solidFill>
              </a:rPr>
              <a:t>Matlab</a:t>
            </a:r>
            <a:endParaRPr lang="el-GR" dirty="0">
              <a:solidFill>
                <a:schemeClr val="bg1"/>
              </a:solidFill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8D30EC54-9C55-4B4E-A8A8-AF283D72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505" y="1918028"/>
            <a:ext cx="629134" cy="515811"/>
          </a:xfrm>
          <a:prstGeom prst="rect">
            <a:avLst/>
          </a:prstGeom>
        </p:spPr>
      </p:pic>
      <p:pic>
        <p:nvPicPr>
          <p:cNvPr id="7" name="Εικόνα 6" descr="Εικόνα που περιέχει γραμματοσειρά, λογότυπο, γραφικά, λευ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FDC7041-A338-210B-7800-E11A36C17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811" y="2814512"/>
            <a:ext cx="1151723" cy="446292"/>
          </a:xfrm>
          <a:prstGeom prst="rect">
            <a:avLst/>
          </a:prstGeom>
        </p:spPr>
      </p:pic>
      <p:pic>
        <p:nvPicPr>
          <p:cNvPr id="11" name="Εικόνα 10" descr="Εικόνα που περιέχει γραφιστική, γραφικά, γραμματοσειρά, αφίσ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AD76699-8AB8-3F3D-C816-5E77736CF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261" y="3914726"/>
            <a:ext cx="629134" cy="5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4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Βασικά Χαρακτηριστικά Οχήματος: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93707AD3-E9D3-728F-D662-B0ED2F4734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639689"/>
              </p:ext>
            </p:extLst>
          </p:nvPr>
        </p:nvGraphicFramePr>
        <p:xfrm>
          <a:off x="609600" y="2160588"/>
          <a:ext cx="63484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206">
                  <a:extLst>
                    <a:ext uri="{9D8B030D-6E8A-4147-A177-3AD203B41FA5}">
                      <a16:colId xmlns:a16="http://schemas.microsoft.com/office/drawing/2014/main" val="2053423394"/>
                    </a:ext>
                  </a:extLst>
                </a:gridCol>
                <a:gridCol w="3174206">
                  <a:extLst>
                    <a:ext uri="{9D8B030D-6E8A-4147-A177-3AD203B41FA5}">
                      <a16:colId xmlns:a16="http://schemas.microsoft.com/office/drawing/2014/main" val="1423473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Μέγεθος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Τιμή</a:t>
                      </a:r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248476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Μήκος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4425</a:t>
                      </a:r>
                      <a:r>
                        <a:rPr lang="en-US" dirty="0"/>
                        <a:t> mm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185499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Πλάτος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1810 mm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309391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Ύψος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1175 mm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13729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Συνολική Μάζα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l-GR" dirty="0"/>
                        <a:t>37</a:t>
                      </a:r>
                      <a:r>
                        <a:rPr lang="en-US" dirty="0"/>
                        <a:t>0 kg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181579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Μετάδοση Κίνησης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Πίσω τροχοί (</a:t>
                      </a:r>
                      <a:r>
                        <a:rPr lang="en-US" dirty="0"/>
                        <a:t>RWD)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3899945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Κινητήρας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3L C32B  V-TEC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359498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Ισχύς</a:t>
                      </a:r>
                    </a:p>
                  </a:txBody>
                  <a:tcPr marL="78403" marR="784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274 hp</a:t>
                      </a:r>
                      <a:endParaRPr lang="el-GR" dirty="0"/>
                    </a:p>
                  </a:txBody>
                  <a:tcPr marL="78403" marR="78403"/>
                </a:tc>
                <a:extLst>
                  <a:ext uri="{0D108BD9-81ED-4DB2-BD59-A6C34878D82A}">
                    <a16:rowId xmlns:a16="http://schemas.microsoft.com/office/drawing/2014/main" val="38362695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C9FD-B5EC-4689-312A-1A2F3A84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Σενάρια Φόρτισης </a:t>
            </a:r>
            <a:br>
              <a:rPr lang="en-GB" dirty="0"/>
            </a:br>
            <a:r>
              <a:rPr lang="el-GR" dirty="0"/>
              <a:t>κατά </a:t>
            </a:r>
            <a:r>
              <a:rPr lang="en-GB" dirty="0"/>
              <a:t>Pawlowski:</a:t>
            </a:r>
          </a:p>
        </p:txBody>
      </p:sp>
      <p:pic>
        <p:nvPicPr>
          <p:cNvPr id="5" name="Picture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7394AE2E-39F4-932C-C475-1B598A644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97" y="2252339"/>
            <a:ext cx="7370780" cy="2353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23255F-6BD5-1AA6-A59F-8F96632EE52E}"/>
              </a:ext>
            </a:extLst>
          </p:cNvPr>
          <p:cNvSpPr txBox="1">
            <a:spLocks/>
          </p:cNvSpPr>
          <p:nvPr/>
        </p:nvSpPr>
        <p:spPr>
          <a:xfrm>
            <a:off x="760497" y="4600744"/>
            <a:ext cx="6735099" cy="154858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85800"/>
            <a:r>
              <a:rPr lang="en-GB" sz="2000" b="1" dirty="0">
                <a:solidFill>
                  <a:prstClr val="black"/>
                </a:solidFill>
                <a:latin typeface="Aptos Display" panose="02110004020202020204"/>
              </a:rPr>
              <a:t>+</a:t>
            </a:r>
            <a:r>
              <a:rPr lang="en-GB" sz="2000" dirty="0">
                <a:solidFill>
                  <a:prstClr val="black"/>
                </a:solidFill>
                <a:latin typeface="Aptos Display" panose="02110004020202020204"/>
              </a:rPr>
              <a:t> </a:t>
            </a:r>
            <a:r>
              <a:rPr lang="el-GR" sz="2000" dirty="0">
                <a:solidFill>
                  <a:prstClr val="black"/>
                </a:solidFill>
                <a:latin typeface="Aptos Display" panose="02110004020202020204"/>
              </a:rPr>
              <a:t>Ένα ακόμα σενάριο της Πλευρικής Πρόσκρουσης: </a:t>
            </a:r>
          </a:p>
          <a:p>
            <a:pPr algn="l" defTabSz="685800"/>
            <a:r>
              <a:rPr lang="el-GR" sz="2000" dirty="0">
                <a:solidFill>
                  <a:prstClr val="black"/>
                </a:solidFill>
                <a:latin typeface="Aptos Display" panose="02110004020202020204"/>
              </a:rPr>
              <a:t>Ελέγχθηκε στο Τελικά Βελτιστοποιημένο Σκελετό – </a:t>
            </a:r>
            <a:endParaRPr lang="en-GB" sz="2000" dirty="0">
              <a:solidFill>
                <a:prstClr val="black"/>
              </a:solidFill>
              <a:latin typeface="Aptos Display" panose="02110004020202020204"/>
            </a:endParaRPr>
          </a:p>
          <a:p>
            <a:pPr algn="l" defTabSz="685800"/>
            <a:r>
              <a:rPr lang="el-GR" sz="2000" dirty="0">
                <a:solidFill>
                  <a:prstClr val="black"/>
                </a:solidFill>
                <a:latin typeface="Aptos Display" panose="02110004020202020204"/>
              </a:rPr>
              <a:t>Είναι το μόνο που εφαρμόζεται τοπικά, στη μία μπροστινή ανάρτηση του αυτοκινήτου </a:t>
            </a:r>
            <a:r>
              <a:rPr lang="el-GR" sz="2000" dirty="0">
                <a:solidFill>
                  <a:prstClr val="black"/>
                </a:solidFill>
                <a:latin typeface="Aptos Display" panose="02110004020202020204"/>
                <a:sym typeface="Wingdings" panose="05000000000000000000" pitchFamily="2" charset="2"/>
              </a:rPr>
              <a:t> χρήση ‘</a:t>
            </a:r>
            <a:r>
              <a:rPr lang="en-GB" sz="2000" dirty="0">
                <a:solidFill>
                  <a:prstClr val="black"/>
                </a:solidFill>
                <a:latin typeface="Aptos Display" panose="02110004020202020204"/>
                <a:sym typeface="Wingdings" panose="05000000000000000000" pitchFamily="2" charset="2"/>
              </a:rPr>
              <a:t>Remote Force’</a:t>
            </a:r>
            <a:endParaRPr lang="en-GB" sz="2000" dirty="0">
              <a:solidFill>
                <a:prstClr val="black"/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6756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67AD47-B59D-8608-15F8-0847BF667709}"/>
              </a:ext>
            </a:extLst>
          </p:cNvPr>
          <p:cNvSpPr txBox="1">
            <a:spLocks/>
          </p:cNvSpPr>
          <p:nvPr/>
        </p:nvSpPr>
        <p:spPr>
          <a:xfrm>
            <a:off x="203220" y="1565717"/>
            <a:ext cx="3337790" cy="68480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GB" sz="2400" dirty="0">
                <a:solidFill>
                  <a:prstClr val="black"/>
                </a:solidFill>
                <a:latin typeface="Aptos Display" panose="02110004020202020204"/>
              </a:rPr>
              <a:t>SolidWorks Model </a:t>
            </a:r>
          </a:p>
          <a:p>
            <a:pPr defTabSz="685800"/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(Solid Cylindrical Tubes</a:t>
            </a:r>
            <a:r>
              <a:rPr lang="el-GR" sz="1800" dirty="0">
                <a:solidFill>
                  <a:prstClr val="black"/>
                </a:solidFill>
                <a:latin typeface="Aptos Display" panose="02110004020202020204"/>
              </a:rPr>
              <a:t>)</a:t>
            </a:r>
            <a:endParaRPr lang="en-GB" sz="1800" dirty="0">
              <a:solidFill>
                <a:prstClr val="black"/>
              </a:solidFill>
              <a:latin typeface="Aptos Display" panose="0211000402020202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1E7B58F-905C-F198-F362-7103EA3EE07C}"/>
              </a:ext>
            </a:extLst>
          </p:cNvPr>
          <p:cNvSpPr txBox="1">
            <a:spLocks/>
          </p:cNvSpPr>
          <p:nvPr/>
        </p:nvSpPr>
        <p:spPr>
          <a:xfrm>
            <a:off x="4727737" y="1545313"/>
            <a:ext cx="3337790" cy="68480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GB" sz="2400" dirty="0">
                <a:solidFill>
                  <a:prstClr val="black"/>
                </a:solidFill>
                <a:latin typeface="Aptos Display" panose="02110004020202020204"/>
              </a:rPr>
              <a:t>SpaceClaim Model </a:t>
            </a:r>
          </a:p>
          <a:p>
            <a:pPr defTabSz="685800"/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(Extraction of Beams from Solid)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E7A25D-1621-A734-847C-F315BBACBF3D}"/>
              </a:ext>
            </a:extLst>
          </p:cNvPr>
          <p:cNvSpPr txBox="1">
            <a:spLocks/>
          </p:cNvSpPr>
          <p:nvPr/>
        </p:nvSpPr>
        <p:spPr>
          <a:xfrm>
            <a:off x="4312484" y="4031504"/>
            <a:ext cx="4030965" cy="68480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GB" sz="2400" dirty="0">
                <a:solidFill>
                  <a:prstClr val="black"/>
                </a:solidFill>
                <a:latin typeface="Aptos Display" panose="02110004020202020204"/>
              </a:rPr>
              <a:t>Static Structural </a:t>
            </a:r>
            <a:r>
              <a:rPr lang="el-GR" sz="2400" dirty="0">
                <a:solidFill>
                  <a:prstClr val="black"/>
                </a:solidFill>
                <a:latin typeface="Aptos Display" panose="02110004020202020204"/>
              </a:rPr>
              <a:t>-</a:t>
            </a:r>
            <a:r>
              <a:rPr lang="en-GB" sz="2400" dirty="0">
                <a:solidFill>
                  <a:prstClr val="black"/>
                </a:solidFill>
                <a:latin typeface="Aptos Display" panose="02110004020202020204"/>
              </a:rPr>
              <a:t> Workbench</a:t>
            </a:r>
            <a:r>
              <a:rPr lang="el-GR" sz="2400" dirty="0">
                <a:solidFill>
                  <a:prstClr val="black"/>
                </a:solidFill>
                <a:latin typeface="Aptos Display" panose="02110004020202020204"/>
              </a:rPr>
              <a:t> </a:t>
            </a:r>
            <a:endParaRPr lang="en-GB" sz="2400" dirty="0">
              <a:solidFill>
                <a:prstClr val="black"/>
              </a:solidFill>
              <a:latin typeface="Aptos Display" panose="02110004020202020204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82DA9FA-8BB2-7CDA-EAB4-130C4C7C3FF1}"/>
              </a:ext>
            </a:extLst>
          </p:cNvPr>
          <p:cNvSpPr/>
          <p:nvPr/>
        </p:nvSpPr>
        <p:spPr>
          <a:xfrm>
            <a:off x="3847234" y="1719941"/>
            <a:ext cx="619433" cy="27284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F0DBCAA-94A6-CD75-4C3B-98F289F36CA8}"/>
              </a:ext>
            </a:extLst>
          </p:cNvPr>
          <p:cNvSpPr/>
          <p:nvPr/>
        </p:nvSpPr>
        <p:spPr>
          <a:xfrm rot="10800000">
            <a:off x="3879553" y="5097066"/>
            <a:ext cx="619433" cy="27284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EB078D3-1212-59A6-A8B5-31831DCA69D5}"/>
              </a:ext>
            </a:extLst>
          </p:cNvPr>
          <p:cNvSpPr txBox="1">
            <a:spLocks/>
          </p:cNvSpPr>
          <p:nvPr/>
        </p:nvSpPr>
        <p:spPr>
          <a:xfrm>
            <a:off x="4820982" y="4812593"/>
            <a:ext cx="3337790" cy="161479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defTabSz="685800">
              <a:buFontTx/>
              <a:buAutoNum type="arabicPeriod"/>
            </a:pPr>
            <a:endParaRPr lang="el-GR" sz="1800" dirty="0">
              <a:solidFill>
                <a:prstClr val="black"/>
              </a:solidFill>
              <a:latin typeface="Aptos Display" panose="02110004020202020204"/>
            </a:endParaRPr>
          </a:p>
          <a:p>
            <a:pPr marL="342900" indent="-342900" algn="l" defTabSz="685800">
              <a:buFontTx/>
              <a:buAutoNum type="arabicPeriod"/>
            </a:pPr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Manual Contacts – Bonded</a:t>
            </a:r>
          </a:p>
          <a:p>
            <a:pPr marL="342900" indent="-342900" algn="l" defTabSz="685800">
              <a:buFontTx/>
              <a:buAutoNum type="arabicPeriod"/>
            </a:pPr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Meshing</a:t>
            </a:r>
          </a:p>
          <a:p>
            <a:pPr marL="342900" indent="-342900" algn="l" defTabSz="685800">
              <a:buFontTx/>
              <a:buAutoNum type="arabicPeriod"/>
            </a:pPr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Boundary Conditions</a:t>
            </a:r>
          </a:p>
          <a:p>
            <a:pPr marL="342900" indent="-342900" algn="l" defTabSz="685800">
              <a:buFontTx/>
              <a:buAutoNum type="arabicPeriod"/>
            </a:pPr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Loads – Load Cases</a:t>
            </a:r>
          </a:p>
          <a:p>
            <a:pPr marL="342900" indent="-342900" algn="l" defTabSz="685800">
              <a:buFontTx/>
              <a:buAutoNum type="arabicPeriod"/>
            </a:pPr>
            <a:r>
              <a:rPr lang="en-GB" sz="1800" dirty="0">
                <a:solidFill>
                  <a:prstClr val="black"/>
                </a:solidFill>
                <a:latin typeface="Aptos Display" panose="02110004020202020204"/>
              </a:rPr>
              <a:t>Solve (Stresses, Deformation)</a:t>
            </a:r>
          </a:p>
          <a:p>
            <a:pPr marL="342900" indent="-342900" defTabSz="685800">
              <a:buFontTx/>
              <a:buAutoNum type="arabicPeriod"/>
            </a:pPr>
            <a:endParaRPr lang="en-GB" sz="1800" dirty="0">
              <a:solidFill>
                <a:prstClr val="black"/>
              </a:solidFill>
              <a:latin typeface="Aptos Display" panose="02110004020202020204"/>
            </a:endParaRPr>
          </a:p>
        </p:txBody>
      </p:sp>
      <p:pic>
        <p:nvPicPr>
          <p:cNvPr id="21" name="Picture 20" descr="A drawing of a car&#10;&#10;AI-generated content may be incorrect.">
            <a:extLst>
              <a:ext uri="{FF2B5EF4-FFF2-40B4-BE49-F238E27FC236}">
                <a16:creationId xmlns:a16="http://schemas.microsoft.com/office/drawing/2014/main" id="{61019F56-C667-7053-7EBB-DA4482E3D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7" b="7420"/>
          <a:stretch>
            <a:fillRect/>
          </a:stretch>
        </p:blipFill>
        <p:spPr>
          <a:xfrm>
            <a:off x="5024053" y="2363000"/>
            <a:ext cx="2737142" cy="1263578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EBB215A4-5D79-5085-EC7E-6ABB7D6D59F2}"/>
              </a:ext>
            </a:extLst>
          </p:cNvPr>
          <p:cNvSpPr txBox="1">
            <a:spLocks/>
          </p:cNvSpPr>
          <p:nvPr/>
        </p:nvSpPr>
        <p:spPr>
          <a:xfrm>
            <a:off x="319974" y="5369911"/>
            <a:ext cx="3337790" cy="68480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l-GR" sz="2400" dirty="0">
                <a:solidFill>
                  <a:prstClr val="black"/>
                </a:solidFill>
                <a:latin typeface="Aptos Display" panose="02110004020202020204"/>
              </a:rPr>
              <a:t>Βελτιστοποίηση:</a:t>
            </a:r>
          </a:p>
          <a:p>
            <a:pPr defTabSz="685800"/>
            <a:r>
              <a:rPr lang="el-GR" sz="2400" dirty="0">
                <a:solidFill>
                  <a:prstClr val="black"/>
                </a:solidFill>
                <a:latin typeface="Aptos Display" panose="02110004020202020204"/>
              </a:rPr>
              <a:t>Στόχος η ελαχιστοποίηση του βάρους του σκελετού</a:t>
            </a:r>
          </a:p>
          <a:p>
            <a:pPr defTabSz="685800"/>
            <a:r>
              <a:rPr lang="el-GR" sz="2400" dirty="0">
                <a:solidFill>
                  <a:prstClr val="black"/>
                </a:solidFill>
                <a:latin typeface="Aptos Display" panose="02110004020202020204"/>
              </a:rPr>
              <a:t>- Με διατομές!</a:t>
            </a:r>
            <a:endParaRPr lang="en-GB" sz="2400" dirty="0">
              <a:solidFill>
                <a:prstClr val="black"/>
              </a:solidFill>
              <a:latin typeface="Aptos Display" panose="02110004020202020204"/>
            </a:endParaRPr>
          </a:p>
        </p:txBody>
      </p:sp>
      <p:pic>
        <p:nvPicPr>
          <p:cNvPr id="20" name="Picture 19" descr="A metal structure made of metal rods&#10;&#10;AI-generated content may be incorrect.">
            <a:extLst>
              <a:ext uri="{FF2B5EF4-FFF2-40B4-BE49-F238E27FC236}">
                <a16:creationId xmlns:a16="http://schemas.microsoft.com/office/drawing/2014/main" id="{1136DCE2-12CD-FDB8-ECE0-E379F28DC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74" y="2409385"/>
            <a:ext cx="3104282" cy="1263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F5EC80-A7D0-8651-8DC1-CE0A315BBC35}"/>
              </a:ext>
            </a:extLst>
          </p:cNvPr>
          <p:cNvSpPr txBox="1"/>
          <p:nvPr/>
        </p:nvSpPr>
        <p:spPr>
          <a:xfrm>
            <a:off x="722170" y="238021"/>
            <a:ext cx="62501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solidFill>
                  <a:schemeClr val="accent1">
                    <a:lumMod val="75000"/>
                  </a:schemeClr>
                </a:solidFill>
              </a:rPr>
              <a:t>Σχεδίαση στο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</a:rPr>
              <a:t>Solidworks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l-GR" sz="3200" dirty="0">
                <a:solidFill>
                  <a:schemeClr val="accent1">
                    <a:lumMod val="75000"/>
                  </a:schemeClr>
                </a:solidFill>
              </a:rPr>
              <a:t>και Μετάβαση στο Α</a:t>
            </a:r>
            <a:r>
              <a:rPr lang="en-GB" sz="3200" dirty="0" err="1">
                <a:solidFill>
                  <a:schemeClr val="accent1">
                    <a:lumMod val="75000"/>
                  </a:schemeClr>
                </a:solidFill>
              </a:rPr>
              <a:t>nsys</a:t>
            </a:r>
            <a:endParaRPr lang="el-G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767A2F9-9355-4F9C-7031-EDF64104C498}"/>
              </a:ext>
            </a:extLst>
          </p:cNvPr>
          <p:cNvSpPr/>
          <p:nvPr/>
        </p:nvSpPr>
        <p:spPr>
          <a:xfrm rot="5400000">
            <a:off x="6252037" y="3798794"/>
            <a:ext cx="424703" cy="27284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GB" sz="1350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267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516B-B1BE-0818-E77E-E3758945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FD0FBBF-F616-B3BB-46A0-5C1F8FF4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chemeClr val="accent2"/>
                </a:solidFill>
                <a:latin typeface="Aptos Display" panose="02110004020202020204"/>
              </a:rPr>
              <a:t>Στηρίξεις και Εισαγωγή Μαζών:</a:t>
            </a:r>
            <a:br>
              <a:rPr lang="en-GB" dirty="0">
                <a:solidFill>
                  <a:schemeClr val="accent2"/>
                </a:solidFill>
                <a:latin typeface="Aptos Display" panose="02110004020202020204"/>
              </a:rPr>
            </a:br>
            <a:endParaRPr lang="en-GB" dirty="0">
              <a:solidFill>
                <a:schemeClr val="accent2"/>
              </a:solidFill>
            </a:endParaRPr>
          </a:p>
        </p:txBody>
      </p:sp>
      <p:pic>
        <p:nvPicPr>
          <p:cNvPr id="10" name="Picture 9" descr="A computer generated image of a network&#10;&#10;AI-generated content may be incorrect.">
            <a:extLst>
              <a:ext uri="{FF2B5EF4-FFF2-40B4-BE49-F238E27FC236}">
                <a16:creationId xmlns:a16="http://schemas.microsoft.com/office/drawing/2014/main" id="{B5759E4C-BECB-A8D6-CF91-005AAAE3B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2" y="1567266"/>
            <a:ext cx="8283596" cy="372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6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A8D66-DBA3-56D9-FA6E-4276EB0D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427" y="492990"/>
            <a:ext cx="6347713" cy="1320800"/>
          </a:xfrm>
        </p:spPr>
        <p:txBody>
          <a:bodyPr>
            <a:normAutofit/>
          </a:bodyPr>
          <a:lstStyle/>
          <a:p>
            <a:r>
              <a:rPr lang="el-GR" dirty="0"/>
              <a:t>Μελέτη Αντοχής μέσω </a:t>
            </a:r>
            <a:r>
              <a:rPr lang="en-US" dirty="0"/>
              <a:t>Ansys</a:t>
            </a:r>
            <a:br>
              <a:rPr lang="en-US" dirty="0"/>
            </a:br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99678-DBA4-7FEA-71A4-F8943FDF595C}"/>
              </a:ext>
            </a:extLst>
          </p:cNvPr>
          <p:cNvSpPr txBox="1"/>
          <p:nvPr/>
        </p:nvSpPr>
        <p:spPr>
          <a:xfrm>
            <a:off x="768350" y="5544421"/>
            <a:ext cx="30289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Εσωτερική ακτίνα = 10 </a:t>
            </a:r>
            <a:r>
              <a:rPr lang="en-GB" sz="1600" dirty="0"/>
              <a:t>mm</a:t>
            </a:r>
          </a:p>
          <a:p>
            <a:r>
              <a:rPr lang="el-GR" sz="1600" dirty="0"/>
              <a:t>Εξωτερική ακτίνα = 15 </a:t>
            </a:r>
            <a:r>
              <a:rPr lang="en-GB" sz="1600" dirty="0"/>
              <a:t>mm</a:t>
            </a:r>
          </a:p>
          <a:p>
            <a:endParaRPr lang="el-G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FC24A-2A40-41BA-EEA3-977ACCEA6AE8}"/>
              </a:ext>
            </a:extLst>
          </p:cNvPr>
          <p:cNvSpPr txBox="1"/>
          <p:nvPr/>
        </p:nvSpPr>
        <p:spPr>
          <a:xfrm>
            <a:off x="3056983" y="1444458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Αρχικός Σχεδιασμός</a:t>
            </a:r>
            <a:r>
              <a:rPr lang="en-GB" dirty="0"/>
              <a:t> </a:t>
            </a:r>
            <a:endParaRPr lang="el-G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A1AF1-E5FA-AF3F-E64E-9FA0F15DEFA2}"/>
              </a:ext>
            </a:extLst>
          </p:cNvPr>
          <p:cNvSpPr txBox="1"/>
          <p:nvPr/>
        </p:nvSpPr>
        <p:spPr>
          <a:xfrm>
            <a:off x="4044283" y="5605976"/>
            <a:ext cx="311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Χειρότερο Σενάριο Φόρτισης</a:t>
            </a:r>
          </a:p>
        </p:txBody>
      </p:sp>
      <p:pic>
        <p:nvPicPr>
          <p:cNvPr id="12" name="Picture 11" descr="A wireframe of a bridge&#10;&#10;AI-generated content may be incorrect.">
            <a:extLst>
              <a:ext uri="{FF2B5EF4-FFF2-40B4-BE49-F238E27FC236}">
                <a16:creationId xmlns:a16="http://schemas.microsoft.com/office/drawing/2014/main" id="{3F7E4788-6057-351C-C9C2-9E872FEF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89" y="2003855"/>
            <a:ext cx="7128387" cy="335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4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27C7771-E183-53FA-3CBD-2465160D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143" y="505344"/>
            <a:ext cx="6347713" cy="660400"/>
          </a:xfrm>
        </p:spPr>
        <p:txBody>
          <a:bodyPr/>
          <a:lstStyle/>
          <a:p>
            <a:r>
              <a:rPr lang="el-GR" dirty="0"/>
              <a:t>Στάδια Βελτιστοποίησης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88D57-2BE8-7011-204D-3535FBD0CE8D}"/>
              </a:ext>
            </a:extLst>
          </p:cNvPr>
          <p:cNvSpPr txBox="1"/>
          <p:nvPr/>
        </p:nvSpPr>
        <p:spPr>
          <a:xfrm>
            <a:off x="1050748" y="16777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1</a:t>
            </a:r>
            <a:r>
              <a:rPr lang="el-GR" baseline="30000" dirty="0">
                <a:solidFill>
                  <a:schemeClr val="bg1"/>
                </a:solidFill>
              </a:rPr>
              <a:t>η</a:t>
            </a:r>
            <a:r>
              <a:rPr lang="el-GR" dirty="0">
                <a:solidFill>
                  <a:schemeClr val="bg1"/>
                </a:solidFill>
              </a:rPr>
              <a:t> Φάση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BE596-20B0-9910-E3D6-F94B101E3603}"/>
              </a:ext>
            </a:extLst>
          </p:cNvPr>
          <p:cNvSpPr txBox="1"/>
          <p:nvPr/>
        </p:nvSpPr>
        <p:spPr>
          <a:xfrm>
            <a:off x="390081" y="2249675"/>
            <a:ext cx="29527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Εσωτερική ακτίνα = 8 </a:t>
            </a:r>
            <a:r>
              <a:rPr lang="en-GB" sz="1600" dirty="0">
                <a:solidFill>
                  <a:schemeClr val="bg1"/>
                </a:solidFill>
              </a:rPr>
              <a:t>mm</a:t>
            </a:r>
          </a:p>
          <a:p>
            <a:r>
              <a:rPr lang="el-GR" sz="1600" dirty="0">
                <a:solidFill>
                  <a:schemeClr val="bg1"/>
                </a:solidFill>
              </a:rPr>
              <a:t>Εξωτερική ακτίνα = 10 </a:t>
            </a:r>
            <a:r>
              <a:rPr lang="en-GB" sz="1600" dirty="0">
                <a:solidFill>
                  <a:schemeClr val="bg1"/>
                </a:solidFill>
              </a:rPr>
              <a:t>mm</a:t>
            </a:r>
          </a:p>
          <a:p>
            <a:endParaRPr lang="el-G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FFDC4-307E-CD52-594D-EC3436A4B7F1}"/>
              </a:ext>
            </a:extLst>
          </p:cNvPr>
          <p:cNvSpPr txBox="1"/>
          <p:nvPr/>
        </p:nvSpPr>
        <p:spPr>
          <a:xfrm>
            <a:off x="5496146" y="4354990"/>
            <a:ext cx="163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Τελική Φάση </a:t>
            </a:r>
          </a:p>
        </p:txBody>
      </p:sp>
      <p:pic>
        <p:nvPicPr>
          <p:cNvPr id="11" name="Picture 10" descr="A blue and green wire structure&#10;&#10;AI-generated content may be incorrect.">
            <a:extLst>
              <a:ext uri="{FF2B5EF4-FFF2-40B4-BE49-F238E27FC236}">
                <a16:creationId xmlns:a16="http://schemas.microsoft.com/office/drawing/2014/main" id="{D735BB0D-F3FD-DB05-B594-57799194A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31" y="1314172"/>
            <a:ext cx="5080482" cy="2732780"/>
          </a:xfrm>
          <a:prstGeom prst="rect">
            <a:avLst/>
          </a:prstGeom>
        </p:spPr>
      </p:pic>
      <p:pic>
        <p:nvPicPr>
          <p:cNvPr id="13" name="Picture 12" descr="A close-up of a network&#10;&#10;AI-generated content may be incorrect.">
            <a:extLst>
              <a:ext uri="{FF2B5EF4-FFF2-40B4-BE49-F238E27FC236}">
                <a16:creationId xmlns:a16="http://schemas.microsoft.com/office/drawing/2014/main" id="{1F39CD20-40F0-6C28-4CFD-7861295C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7" y="4298606"/>
            <a:ext cx="4194694" cy="24904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183822-0F6C-61B5-CCBF-020BE55D6ABB}"/>
              </a:ext>
            </a:extLst>
          </p:cNvPr>
          <p:cNvSpPr txBox="1"/>
          <p:nvPr/>
        </p:nvSpPr>
        <p:spPr>
          <a:xfrm>
            <a:off x="5143978" y="4912306"/>
            <a:ext cx="295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Όλα τα σενάρια φόρτισης ικανοποιούν τον συντελεστή ασφαλείας 1.5 που έχουμε ορίσει – Δεν προβλέπεται αστοχία!</a:t>
            </a:r>
          </a:p>
        </p:txBody>
      </p:sp>
    </p:spTree>
    <p:extLst>
      <p:ext uri="{BB962C8B-B14F-4D97-AF65-F5344CB8AC3E}">
        <p14:creationId xmlns:p14="http://schemas.microsoft.com/office/powerpoint/2010/main" val="3011619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338EC33-EB95-010F-F0C9-B5A09C66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54190"/>
            <a:ext cx="6347713" cy="1320800"/>
          </a:xfrm>
        </p:spPr>
        <p:txBody>
          <a:bodyPr>
            <a:normAutofit/>
          </a:bodyPr>
          <a:lstStyle/>
          <a:p>
            <a:r>
              <a:rPr lang="el-GR" dirty="0"/>
              <a:t>Υπολογισμός </a:t>
            </a:r>
            <a:r>
              <a:rPr lang="en-GB" dirty="0"/>
              <a:t>E</a:t>
            </a:r>
            <a:r>
              <a:rPr lang="el-GR" dirty="0" err="1"/>
              <a:t>πιδόσεων</a:t>
            </a:r>
            <a:r>
              <a:rPr lang="el-GR" dirty="0"/>
              <a:t>:</a:t>
            </a:r>
            <a:br>
              <a:rPr lang="el-GR" dirty="0"/>
            </a:b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0DBA-22CD-720C-D449-E7F1442E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16461"/>
            <a:ext cx="6803924" cy="3880773"/>
          </a:xfrm>
        </p:spPr>
        <p:txBody>
          <a:bodyPr/>
          <a:lstStyle/>
          <a:p>
            <a:r>
              <a:rPr lang="el-GR" dirty="0">
                <a:solidFill>
                  <a:schemeClr val="bg1"/>
                </a:solidFill>
              </a:rPr>
              <a:t>Σχέσεις Μετάδοσης Κατασκευαστή</a:t>
            </a:r>
          </a:p>
          <a:p>
            <a:endParaRPr lang="el-GR" dirty="0">
              <a:solidFill>
                <a:schemeClr val="bg1"/>
              </a:solidFill>
            </a:endParaRPr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r>
              <a:rPr lang="el-GR" dirty="0">
                <a:solidFill>
                  <a:schemeClr val="bg1"/>
                </a:solidFill>
              </a:rPr>
              <a:t>Μοναδικό Κριτήριο Βελτιστοποίησης Επιδόσεων είναι η μάζα!</a:t>
            </a:r>
          </a:p>
          <a:p>
            <a:endParaRPr lang="el-GR" dirty="0"/>
          </a:p>
          <a:p>
            <a:endParaRPr lang="el-GR" dirty="0"/>
          </a:p>
          <a:p>
            <a:pPr marL="0" indent="0">
              <a:buNone/>
            </a:pPr>
            <a:r>
              <a:rPr lang="el-GR" dirty="0"/>
              <a:t> </a:t>
            </a:r>
          </a:p>
          <a:p>
            <a:endParaRPr lang="el-GR" dirty="0"/>
          </a:p>
          <a:p>
            <a:endParaRPr lang="el-GR" dirty="0"/>
          </a:p>
          <a:p>
            <a:endParaRPr lang="el-GR" dirty="0"/>
          </a:p>
        </p:txBody>
      </p:sp>
      <p:graphicFrame>
        <p:nvGraphicFramePr>
          <p:cNvPr id="6" name="Πίνακας 5">
            <a:extLst>
              <a:ext uri="{FF2B5EF4-FFF2-40B4-BE49-F238E27FC236}">
                <a16:creationId xmlns:a16="http://schemas.microsoft.com/office/drawing/2014/main" id="{571CA69A-6FE5-66CF-EBED-E8283A441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5782"/>
              </p:ext>
            </p:extLst>
          </p:nvPr>
        </p:nvGraphicFramePr>
        <p:xfrm>
          <a:off x="753364" y="2567159"/>
          <a:ext cx="67332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661">
                  <a:extLst>
                    <a:ext uri="{9D8B030D-6E8A-4147-A177-3AD203B41FA5}">
                      <a16:colId xmlns:a16="http://schemas.microsoft.com/office/drawing/2014/main" val="3498674424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2996542799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3995625674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188175005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89399472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2279491211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3038922662"/>
                    </a:ext>
                  </a:extLst>
                </a:gridCol>
                <a:gridCol w="841661">
                  <a:extLst>
                    <a:ext uri="{9D8B030D-6E8A-4147-A177-3AD203B41FA5}">
                      <a16:colId xmlns:a16="http://schemas.microsoft.com/office/drawing/2014/main" val="4274710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1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2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3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4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5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6</a:t>
                      </a:r>
                      <a:r>
                        <a:rPr lang="el-GR" baseline="30000" dirty="0"/>
                        <a:t>η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/>
                        <a:t>Διαφορικό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7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3.07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4.06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99321"/>
                  </a:ext>
                </a:extLst>
              </a:tr>
            </a:tbl>
          </a:graphicData>
        </a:graphic>
      </p:graphicFrame>
      <p:graphicFrame>
        <p:nvGraphicFramePr>
          <p:cNvPr id="7" name="Πίνακας 6">
            <a:extLst>
              <a:ext uri="{FF2B5EF4-FFF2-40B4-BE49-F238E27FC236}">
                <a16:creationId xmlns:a16="http://schemas.microsoft.com/office/drawing/2014/main" id="{70B97BF9-18AF-75DA-A7E3-E9D9DCDCC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52428"/>
              </p:ext>
            </p:extLst>
          </p:nvPr>
        </p:nvGraphicFramePr>
        <p:xfrm>
          <a:off x="1072008" y="4493177"/>
          <a:ext cx="6096000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759361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20668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23508128"/>
                    </a:ext>
                  </a:extLst>
                </a:gridCol>
              </a:tblGrid>
              <a:tr h="331921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r>
                        <a:rPr lang="el-GR" sz="1400" dirty="0" err="1"/>
                        <a:t>ρχική</a:t>
                      </a:r>
                      <a:r>
                        <a:rPr lang="el-GR" sz="1400" dirty="0"/>
                        <a:t> Εκτίμηση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400" dirty="0"/>
                        <a:t>Μετά από Βελτιστοποίηση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400" dirty="0"/>
                        <a:t>Κατασκευαστή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892630"/>
                  </a:ext>
                </a:extLst>
              </a:tr>
              <a:tr h="347244">
                <a:tc>
                  <a:txBody>
                    <a:bodyPr/>
                    <a:lstStyle/>
                    <a:p>
                      <a:r>
                        <a:rPr lang="el-GR" dirty="0"/>
                        <a:t>1193 </a:t>
                      </a:r>
                      <a:r>
                        <a:rPr lang="en-US" dirty="0"/>
                        <a:t>kg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1116</a:t>
                      </a:r>
                      <a:r>
                        <a:rPr lang="en-US" dirty="0"/>
                        <a:t> kg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1370</a:t>
                      </a:r>
                      <a:r>
                        <a:rPr lang="en-US" dirty="0"/>
                        <a:t> kg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9428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0C7157-623F-D718-C22A-4CDE03C69F08}"/>
              </a:ext>
            </a:extLst>
          </p:cNvPr>
          <p:cNvCxnSpPr>
            <a:cxnSpLocks/>
          </p:cNvCxnSpPr>
          <p:nvPr/>
        </p:nvCxnSpPr>
        <p:spPr>
          <a:xfrm flipH="1" flipV="1">
            <a:off x="2625213" y="5498423"/>
            <a:ext cx="314632" cy="4107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06D496-034A-DF07-3759-B82E8C46B1C8}"/>
              </a:ext>
            </a:extLst>
          </p:cNvPr>
          <p:cNvCxnSpPr>
            <a:cxnSpLocks/>
          </p:cNvCxnSpPr>
          <p:nvPr/>
        </p:nvCxnSpPr>
        <p:spPr>
          <a:xfrm flipV="1">
            <a:off x="3500287" y="5515896"/>
            <a:ext cx="283168" cy="393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8833BC-B369-525C-4ADE-91B6C6B02E6D}"/>
              </a:ext>
            </a:extLst>
          </p:cNvPr>
          <p:cNvSpPr txBox="1"/>
          <p:nvPr/>
        </p:nvSpPr>
        <p:spPr>
          <a:xfrm>
            <a:off x="1597742" y="6046956"/>
            <a:ext cx="459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Μόνο από μείωση βάρους σκελετού! (57%)</a:t>
            </a:r>
          </a:p>
        </p:txBody>
      </p:sp>
    </p:spTree>
    <p:extLst>
      <p:ext uri="{BB962C8B-B14F-4D97-AF65-F5344CB8AC3E}">
        <p14:creationId xmlns:p14="http://schemas.microsoft.com/office/powerpoint/2010/main" val="3913186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CF5D38-A33A-7B87-272A-F9664BEE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469" y="228600"/>
            <a:ext cx="6347713" cy="1320800"/>
          </a:xfrm>
        </p:spPr>
        <p:txBody>
          <a:bodyPr/>
          <a:lstStyle/>
          <a:p>
            <a:pPr algn="ctr"/>
            <a:r>
              <a:rPr lang="el-GR" dirty="0"/>
              <a:t>Τελικά Αποτελέσματα Επιδόσεων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Θέση περιεχομένου 3">
                <a:extLst>
                  <a:ext uri="{FF2B5EF4-FFF2-40B4-BE49-F238E27FC236}">
                    <a16:creationId xmlns:a16="http://schemas.microsoft.com/office/drawing/2014/main" id="{0179D66B-2829-E629-7354-6849F7485CA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7763963"/>
                  </p:ext>
                </p:extLst>
              </p:nvPr>
            </p:nvGraphicFramePr>
            <p:xfrm>
              <a:off x="609600" y="1646238"/>
              <a:ext cx="6521452" cy="48169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0363">
                      <a:extLst>
                        <a:ext uri="{9D8B030D-6E8A-4147-A177-3AD203B41FA5}">
                          <a16:colId xmlns:a16="http://schemas.microsoft.com/office/drawing/2014/main" val="798893624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746309745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2255253182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4066520967"/>
                        </a:ext>
                      </a:extLst>
                    </a:gridCol>
                  </a:tblGrid>
                  <a:tr h="432268"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Μέγεθος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Αρχικός Σχεδιασμός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Μετά από Βελτιστοποίηση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600" dirty="0"/>
                            <a:t>Κατασκευαστή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3733491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Ανωφέρεια (</a:t>
                          </a:r>
                          <a:r>
                            <a:rPr lang="en-US" sz="1400" dirty="0"/>
                            <a:t>deg)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23.56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23.56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25.00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51070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Ταχύτητα</a:t>
                          </a:r>
                          <a:r>
                            <a:rPr lang="en-US" sz="1400" dirty="0"/>
                            <a:t> (km/h)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267.2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267.8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270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222249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Επιτάχυνση</a:t>
                          </a:r>
                          <a:r>
                            <a:rPr lang="en-US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0.45 g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541401"/>
                      </a:ext>
                    </a:extLst>
                  </a:tr>
                  <a:tr h="305130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Χρόνος 0-100 </a:t>
                          </a:r>
                          <a:r>
                            <a:rPr lang="en-US" sz="1400" dirty="0"/>
                            <a:t>km/h (s)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4.58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4.30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4233490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Επιβράδυνση</a:t>
                          </a:r>
                          <a:r>
                            <a:rPr lang="en-US" sz="1400" dirty="0"/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1.02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1.02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0.90 g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6277650"/>
                      </a:ext>
                    </a:extLst>
                  </a:tr>
                  <a:tr h="305130">
                    <a:tc>
                      <a:txBody>
                        <a:bodyPr/>
                        <a:lstStyle/>
                        <a:p>
                          <a:r>
                            <a:rPr lang="el-GR" sz="1400" strike="sngStrike" dirty="0"/>
                            <a:t>Χρόνος 100-0</a:t>
                          </a:r>
                          <a:r>
                            <a:rPr lang="en-US" sz="1400" strike="sngStrike" dirty="0"/>
                            <a:t> km/h (s)</a:t>
                          </a:r>
                          <a:endParaRPr lang="el-GR" sz="1400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3.06</a:t>
                          </a:r>
                          <a:endParaRPr lang="el-GR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3.06</a:t>
                          </a:r>
                          <a:endParaRPr lang="el-GR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3.00</a:t>
                          </a:r>
                          <a:endParaRPr lang="el-GR" strike="sngStrik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298229"/>
                      </a:ext>
                    </a:extLst>
                  </a:tr>
                  <a:tr h="305130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Απόσταση Φρεναρίσματος 100-0</a:t>
                          </a:r>
                          <a:r>
                            <a:rPr lang="en-US" sz="1400" dirty="0"/>
                            <a:t> (m)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45.16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45.13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44.00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02652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Θέση περιεχομένου 3">
                <a:extLst>
                  <a:ext uri="{FF2B5EF4-FFF2-40B4-BE49-F238E27FC236}">
                    <a16:creationId xmlns:a16="http://schemas.microsoft.com/office/drawing/2014/main" id="{0179D66B-2829-E629-7354-6849F7485CA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7763963"/>
                  </p:ext>
                </p:extLst>
              </p:nvPr>
            </p:nvGraphicFramePr>
            <p:xfrm>
              <a:off x="609600" y="1646238"/>
              <a:ext cx="6521452" cy="48169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0363">
                      <a:extLst>
                        <a:ext uri="{9D8B030D-6E8A-4147-A177-3AD203B41FA5}">
                          <a16:colId xmlns:a16="http://schemas.microsoft.com/office/drawing/2014/main" val="798893624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746309745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2255253182"/>
                        </a:ext>
                      </a:extLst>
                    </a:gridCol>
                    <a:gridCol w="1630363">
                      <a:extLst>
                        <a:ext uri="{9D8B030D-6E8A-4147-A177-3AD203B41FA5}">
                          <a16:colId xmlns:a16="http://schemas.microsoft.com/office/drawing/2014/main" val="406652096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Μέγεθος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Αρχικός Σχεδιασμός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Μετά από Βελτιστοποίηση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sz="1600" dirty="0"/>
                            <a:t>Κατασκευαστή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3733491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Ανωφέρεια (</a:t>
                          </a:r>
                          <a:r>
                            <a:rPr lang="en-US" sz="1400" dirty="0"/>
                            <a:t>deg)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23.56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23.56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25.00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51070"/>
                      </a:ext>
                    </a:extLst>
                  </a:tr>
                  <a:tr h="533978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Μέγιστη Ταχύτητα</a:t>
                          </a:r>
                          <a:r>
                            <a:rPr lang="en-US" sz="1400" dirty="0"/>
                            <a:t> (km/h)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267.2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267.8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270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22224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" t="-219835" r="-300746" b="-346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0.45 g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5414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Χρόνος 0-100 </a:t>
                          </a:r>
                          <a:r>
                            <a:rPr lang="en-US" sz="1400" dirty="0"/>
                            <a:t>km/h (s)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4.58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4.30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5.90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423349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" t="-393333" r="-300746" b="-17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1.02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1.02 g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0.90 g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627765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l-GR" sz="1400" strike="sngStrike" dirty="0"/>
                            <a:t>Χρόνος 100-0</a:t>
                          </a:r>
                          <a:r>
                            <a:rPr lang="en-US" sz="1400" strike="sngStrike" dirty="0"/>
                            <a:t> km/h (s)</a:t>
                          </a:r>
                          <a:endParaRPr lang="el-GR" sz="1400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3.06</a:t>
                          </a:r>
                          <a:endParaRPr lang="el-GR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3.06</a:t>
                          </a:r>
                          <a:endParaRPr lang="el-GR" strike="sngStrik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trike="sngStrike" dirty="0"/>
                            <a:t>3.00</a:t>
                          </a:r>
                          <a:endParaRPr lang="el-GR" strike="sngStrik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29822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l-GR" sz="1400" dirty="0"/>
                            <a:t>Απόσταση Φρεναρίσματος 100-0</a:t>
                          </a:r>
                          <a:r>
                            <a:rPr lang="en-US" sz="1400" dirty="0"/>
                            <a:t> (m)</a:t>
                          </a:r>
                          <a:endParaRPr lang="el-GR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45.16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45.13</a:t>
                          </a:r>
                          <a:endParaRPr lang="el-G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44.00</a:t>
                          </a:r>
                          <a:endParaRPr lang="el-G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02652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0ADFF95-5CF5-738B-49AF-2F00F983D86D}"/>
              </a:ext>
            </a:extLst>
          </p:cNvPr>
          <p:cNvSpPr/>
          <p:nvPr/>
        </p:nvSpPr>
        <p:spPr>
          <a:xfrm>
            <a:off x="3667433" y="3942735"/>
            <a:ext cx="1288026" cy="521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244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DFEDDB3-745D-626C-0F48-E39F83C1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Προτάσεις Βελτίωσης: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BAAE20A-2327-3B31-552E-3A19AD636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86193"/>
            <a:ext cx="7246375" cy="3285613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l-GR" dirty="0"/>
              <a:t>Χρήση στοιχείων κελύφους ή υβριδικού μοντέλου </a:t>
            </a:r>
            <a:r>
              <a:rPr lang="el-GR" dirty="0" err="1"/>
              <a:t>beam</a:t>
            </a:r>
            <a:r>
              <a:rPr lang="el-GR" dirty="0"/>
              <a:t>--</a:t>
            </a:r>
            <a:r>
              <a:rPr lang="el-GR" dirty="0" err="1"/>
              <a:t>shell</a:t>
            </a:r>
            <a:r>
              <a:rPr lang="el-GR" dirty="0"/>
              <a:t> </a:t>
            </a:r>
          </a:p>
          <a:p>
            <a:pPr>
              <a:lnSpc>
                <a:spcPct val="200000"/>
              </a:lnSpc>
            </a:pPr>
            <a:r>
              <a:rPr lang="el-GR" dirty="0"/>
              <a:t>Ανάλυση λυγισμού </a:t>
            </a:r>
            <a:r>
              <a:rPr lang="el-GR" dirty="0">
                <a:sym typeface="Wingdings" panose="05000000000000000000" pitchFamily="2" charset="2"/>
              </a:rPr>
              <a:t>(</a:t>
            </a:r>
            <a:r>
              <a:rPr lang="en-GB" dirty="0">
                <a:sym typeface="Wingdings" panose="05000000000000000000" pitchFamily="2" charset="2"/>
              </a:rPr>
              <a:t>buckling)</a:t>
            </a:r>
            <a:endParaRPr lang="el-GR" dirty="0"/>
          </a:p>
          <a:p>
            <a:pPr>
              <a:lnSpc>
                <a:spcPct val="200000"/>
              </a:lnSpc>
            </a:pPr>
            <a:r>
              <a:rPr lang="el-GR" dirty="0"/>
              <a:t>Δυναμική ανάλυση (</a:t>
            </a:r>
            <a:r>
              <a:rPr lang="el-GR" dirty="0" err="1"/>
              <a:t>modal</a:t>
            </a:r>
            <a:r>
              <a:rPr lang="el-GR" dirty="0"/>
              <a:t> ή </a:t>
            </a:r>
            <a:r>
              <a:rPr lang="el-GR" dirty="0" err="1"/>
              <a:t>trans</a:t>
            </a:r>
            <a:r>
              <a:rPr lang="en-GB" dirty="0" err="1"/>
              <a:t>ient</a:t>
            </a:r>
            <a:r>
              <a:rPr lang="en-GB" dirty="0"/>
              <a:t>)</a:t>
            </a:r>
          </a:p>
          <a:p>
            <a:pPr>
              <a:lnSpc>
                <a:spcPct val="200000"/>
              </a:lnSpc>
            </a:pPr>
            <a:r>
              <a:rPr lang="el-GR" dirty="0"/>
              <a:t>Πειραματισμός με εναλλακτικά υλικά</a:t>
            </a:r>
          </a:p>
          <a:p>
            <a:pPr>
              <a:lnSpc>
                <a:spcPct val="200000"/>
              </a:lnSpc>
            </a:pPr>
            <a:r>
              <a:rPr lang="el-GR" dirty="0"/>
              <a:t>Τοπολογική Βελτιστοποίηση</a:t>
            </a:r>
          </a:p>
          <a:p>
            <a:pPr marL="0" indent="0">
              <a:lnSpc>
                <a:spcPct val="150000"/>
              </a:lnSpc>
              <a:buNone/>
            </a:pPr>
            <a:endParaRPr lang="el-GR" dirty="0"/>
          </a:p>
          <a:p>
            <a:endParaRPr lang="el-GR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01448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εξωτερικός χώρος/ύπαιθρος, χερσαίο όχημα, όχημα, χορτάρι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2CE3328-94B7-06B3-60CF-99F6383AE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35" r="2769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18" y="3048000"/>
            <a:ext cx="3334774" cy="13642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sz="2400" b="1" dirty="0">
                <a:solidFill>
                  <a:schemeClr val="accent2">
                    <a:lumMod val="75000"/>
                  </a:schemeClr>
                </a:solidFill>
              </a:rPr>
              <a:t>Ευχαριστούμε για την προσοχή σας !!!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Προσαρμοσμένο 8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DD0101"/>
      </a:accent1>
      <a:accent2>
        <a:srgbClr val="A5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Όψη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Όψ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</TotalTime>
  <Words>429</Words>
  <Application>Microsoft Office PowerPoint</Application>
  <PresentationFormat>On-screen Show (4:3)</PresentationFormat>
  <Paragraphs>145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Trebuchet MS</vt:lpstr>
      <vt:lpstr>Wingdings</vt:lpstr>
      <vt:lpstr>Wingdings 3</vt:lpstr>
      <vt:lpstr>Όψη</vt:lpstr>
      <vt:lpstr>Θεωρία Τροχοφόρων Οχημάτων</vt:lpstr>
      <vt:lpstr>Στόχοι Εργασίας</vt:lpstr>
      <vt:lpstr>Λογισμικά και Μεθοδολογία Υλοποίησης</vt:lpstr>
      <vt:lpstr>Βασικά Χαρακτηριστικά Οχήματος:</vt:lpstr>
      <vt:lpstr>Σενάρια Φόρτισης  κατά Pawlowski:</vt:lpstr>
      <vt:lpstr>PowerPoint Presentation</vt:lpstr>
      <vt:lpstr>Στηρίξεις και Εισαγωγή Μαζών: </vt:lpstr>
      <vt:lpstr>Μελέτη Αντοχής μέσω Ansys </vt:lpstr>
      <vt:lpstr>Στάδια Βελτιστοποίησης</vt:lpstr>
      <vt:lpstr>Υπολογισμός Eπιδόσεων: </vt:lpstr>
      <vt:lpstr>Τελικά Αποτελέσματα Επιδόσεων </vt:lpstr>
      <vt:lpstr>Προτάσεις Βελτίωσης: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Μυρτω Τζενη Μακμιλλαν</cp:lastModifiedBy>
  <cp:revision>9</cp:revision>
  <dcterms:created xsi:type="dcterms:W3CDTF">2013-01-27T09:14:16Z</dcterms:created>
  <dcterms:modified xsi:type="dcterms:W3CDTF">2026-01-14T19:01:24Z</dcterms:modified>
  <cp:category/>
</cp:coreProperties>
</file>